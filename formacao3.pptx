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2832" y="164592"/>
            <a:ext cx="201168" cy="48143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57200"/>
            <a:ext cx="2377440" cy="2377440"/>
          </a:xfrm>
          <a:prstGeom prst="ellipse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2286000"/>
            <a:ext cx="1645920" cy="1645920"/>
          </a:xfrm>
          <a:prstGeom prst="ellipse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74320"/>
            <a:ext cx="256032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301752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</a:rPr>
              <a:t>FORMAÇÃO DE EQUIPE ESCOLAR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C518"/>
                </a:solidFill>
              </a:rPr>
              <a:t>PEPI BRASIL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115568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Identificação de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C518"/>
                </a:solidFill>
              </a:rPr>
              <a:t>Violências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AABB"/>
                </a:solidFill>
              </a:rPr>
              <a:t>Sinais físicos  |  Comportamentais  |  Abordagem  |  Registro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274320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BB"/>
                </a:solidFill>
              </a:rPr>
              <a:t>Capacitação Profissional para Educadores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SINAIS FÍSICOS DE VIOLÊNCIA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5555"/>
                </a:solidFill>
              </a:rPr>
              <a:t>Atenção: sinais físicos isolados podem ter outras causas. O conjunto de sinais e o contexto são determinantes.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91640"/>
            <a:ext cx="164592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465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Hematomas em locais incomuns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1031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Lesões em costas, pernas, nádegas ou face em estágios diferentes de cicatrização.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691640"/>
            <a:ext cx="164592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01768" y="17465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Marcas de queimaduras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01768" y="21031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Queimaduras com bordas definidas (cigarro, ferro) ou com formato geométrico.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834640"/>
            <a:ext cx="164592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895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Dor ao sentar ou andar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2461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Especialmente relevante em contextos de violência sexual ou física grave.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834640"/>
            <a:ext cx="164592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28895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Roupas inadequadas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01768" y="32461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Uso de roupas longas em dias quentes para cobrir marcas e hematomas.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9776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977640"/>
            <a:ext cx="164592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325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Higiene negligenciada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43891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Ausência de cuidados básicos pode indicar negligência por parte dos responsáveis.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9776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977640"/>
            <a:ext cx="164592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40325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Sinais de desnutrição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01768" y="43891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Criança que demonstra fome excessiva ou baixo desenvolvimento pode estar em situação de negligência.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SINAIS COMPORTAMENTAIS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5C51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61288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24712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Mudança repentina de comportamento — agressividade ou retraimento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8503920" cy="411480"/>
          </a:xfrm>
          <a:prstGeom prst="rect">
            <a:avLst/>
          </a:prstGeom>
          <a:solidFill>
            <a:srgbClr val="FFF8E1"/>
          </a:solidFill>
          <a:ln w="12700">
            <a:solidFill>
              <a:srgbClr val="F5C518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36776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600200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Medo excessivo de adultos específicos ou de voltar para casa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048256"/>
            <a:ext cx="850392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5C51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112264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07568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Regressão a comportamentos de fase anterior (enurese, choro excessivo)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8503920" cy="411480"/>
          </a:xfrm>
          <a:prstGeom prst="rect">
            <a:avLst/>
          </a:prstGeom>
          <a:solidFill>
            <a:srgbClr val="FFF8E1"/>
          </a:solidFill>
          <a:ln w="12700">
            <a:solidFill>
              <a:srgbClr val="F5C518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587752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551176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Desenhos ou redações com temas de violência, morte ou abuso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999232"/>
            <a:ext cx="850392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5C518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063240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026664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Comportamento sexualizado incompatível com a faixa etária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474720"/>
            <a:ext cx="8503920" cy="411480"/>
          </a:xfrm>
          <a:prstGeom prst="rect">
            <a:avLst/>
          </a:prstGeom>
          <a:solidFill>
            <a:srgbClr val="FFF8E1"/>
          </a:solidFill>
          <a:ln w="12700">
            <a:solidFill>
              <a:srgbClr val="F5C518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538728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502152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Dificuldade de concentração, queda no rendimento escolar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950208"/>
            <a:ext cx="850392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5C518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4014216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977640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Relato espontâneo de situações de maus-tratos em casa ou fora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425696"/>
            <a:ext cx="8503920" cy="411480"/>
          </a:xfrm>
          <a:prstGeom prst="rect">
            <a:avLst/>
          </a:prstGeom>
          <a:solidFill>
            <a:srgbClr val="FFF8E1"/>
          </a:solidFill>
          <a:ln w="12700">
            <a:solidFill>
              <a:srgbClr val="F5C518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4489704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45312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Automutilação, marcas de cortes ou queimaduras auto-infligidas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C518"/>
                </a:solidFill>
              </a:rPr>
              <a:t>ABORDAGEM SEGURA &amp; REGISTRO CORRETO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840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241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COMO ABORDAR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536192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Escolha um local privado e tranquilo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039112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116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 linguagem simples e acolhedora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542032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1460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Não faça perguntas indutivas ou detalhadas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044952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Valide o que a criança sente: 'Entendo, obrigado por me contar'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547872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204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Explique que precisará buscar ajuda para protegê-la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4050792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Nunca prometa guardar segredo sobre situações de risco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960120"/>
            <a:ext cx="4343400" cy="3840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960120"/>
            <a:ext cx="4343400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10241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O REGISTRO DEVE CONTER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536192"/>
            <a:ext cx="20116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508760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Data, horário e local do relato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039112"/>
            <a:ext cx="20116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011680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Nome completo e turma do aluno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542032"/>
            <a:ext cx="20116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514600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Descrição objetiva — sem interpretações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044952"/>
            <a:ext cx="20116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017520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Palavras exatas da criança (entre aspas)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547872"/>
            <a:ext cx="20116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520440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Profissional presente no momento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4050792"/>
            <a:ext cx="201168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4023360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Encaminhamento dado e a quem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PEPI Brasil © Formação de Equipe Escolar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2026-04-14T17:57:19Z</dcterms:created>
  <dcterms:modified xsi:type="dcterms:W3CDTF">2026-04-14T17:57:19Z</dcterms:modified>
</cp:coreProperties>
</file>